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7ED8-7354-0393-1998-5D50EB04D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E8EC0-4ED0-13C0-4B1A-71A88CBDB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F3FD-FBF5-BC9E-4A97-74DF8155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79379-3250-F0A9-3E8A-6F7028A4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20789-9EF3-15A8-5D0F-7B663D4E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19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0103-91DB-F714-5BA3-862A664A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270B-F181-AE28-5535-A727A6AA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162C1-0279-53B1-97B9-35C76902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A402-667D-6A9D-891B-37DC7929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13083-89C1-60F7-FEC5-C2A80158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9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DDA9-C67A-9F4E-8F3A-5F8DE9D4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7988D-E56A-53DC-EAAD-21043578C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AED79-FE91-7660-9EC2-B92B69A3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B5CD1-3F47-B062-DC96-3CB72BB6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6B180-3F91-9BF8-B0E9-8DFA6CB7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2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73B5-F10B-49A7-0443-7D2C2132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C3FA-2571-3073-0997-7755E9FE4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537D2-A964-6A77-8CB2-1DE45A4EA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AD1E-65E7-C5B2-C4BB-31FCB2D1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46D03-F0D4-6778-FD33-FB8D55CD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45934-4942-BF6B-91ED-1EA7706E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0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D6A6-9E00-9A01-C4F7-3B1E9974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F63B9-4BA6-B7CF-E1EC-C17C47C21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85D1-6A8F-CB44-87BA-03BFDBDBA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EE400-2292-D294-9D8F-19B3FA7D5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BC2DE-594C-1413-8DCE-4C45D4C50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0667C-8635-B0C7-D36C-5780EDD2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273F1F-7FB7-F662-0B6B-009564DC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A19B8-F83F-92BD-375C-DDDDAAC6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2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7C74-D047-4188-EE05-0480852C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53A0D-7D81-116E-FE28-7670D867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7D445-D58D-6A16-C03C-90BECEA2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155A1-E8FA-0471-722A-45C73FBC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0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809BE-F77A-E877-5A85-5739730C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995D8-D111-5B8B-7C8F-B487E3DA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D63A-5016-0172-F00D-8B0117BA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92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42B9-863F-57E9-AD51-FCE9C134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337B-D17B-DD04-2CDB-16901EFF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79AA6-3DBF-EBC4-7926-346EBFC6A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AEEB9-F6FA-2E9B-57CF-01AE408F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78FD6-1CF1-B828-5483-E2FECADE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C5CAD-FBCA-ED82-E898-3DEFD04B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8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79D4-9BB6-1895-051D-0FCBBC71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CF589-5B91-4133-3C38-A9B77356A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12A20-3EED-2DFC-ADF6-0A7D0CDC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0FCB8-0958-33E5-8047-92592636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E633D-5A15-BAAE-E3E5-80ABE53E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64F12-DC88-AD63-E9F0-3E6565B1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E683-D641-5769-9318-70226F9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A2456-A0E8-3C8F-97C6-7B5494103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7A8F-D101-C895-5F94-DC8A1B4F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D7270-5333-7F15-2217-75E4D97E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2D1FA-6034-E478-5A2A-701B9A05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8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2E8D8-8A2B-7251-6712-36798692B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E8700-D431-1B28-D6D3-8CAFB3A6E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F86C8-9502-C42D-EB86-B9799BD8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3B38C-3A98-87AE-FEFC-CB73976A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70D4-B6BF-B366-30A8-87181597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2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DC458-8D69-6CD7-4807-2A68AE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C3A45-5E17-C271-A81B-AE932BF50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C27DC-AA5B-C894-22B4-B38881A16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B8098-CFE4-432B-A9B4-BFD44FA073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50C7A-5A0A-9DCA-7E31-174453E1E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B9DC8-5C19-3A61-9EA8-6204C8642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4B0A7-BED3-4CC6-BC63-BBBB36CCF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4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4372-9549-BDE2-B5CC-D8C1C7A51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1FE00-2CB2-44C3-A6A4-B99CD4EAF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06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407F-2A16-4075-7B5D-AFA77275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1: TITLE</a:t>
            </a:r>
            <a:br>
              <a:rPr lang="en-US" b="1" dirty="0"/>
            </a:br>
            <a:r>
              <a:rPr lang="en-US" b="1" dirty="0"/>
              <a:t>“Preventive Health Care for Children: Birth to 18 Years”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157F7-A3D5-E8E3-DBD3-E33BD589B9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🎯 Objective for AI team</a:t>
            </a:r>
          </a:p>
          <a:p>
            <a:pPr>
              <a:buNone/>
            </a:pPr>
            <a:r>
              <a:rPr lang="en-US" dirty="0"/>
              <a:t>Create a </a:t>
            </a:r>
            <a:r>
              <a:rPr lang="en-US" b="1" dirty="0"/>
              <a:t>nationally adaptable digital preventive pediatric platform</a:t>
            </a:r>
            <a:r>
              <a:rPr lang="en-US" dirty="0"/>
              <a:t>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Tracks child health longitudinally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Predicts risks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Guides pediatricians + parents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Integrates Indian realities (nutrition, infections, environment)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BE992-55D1-5747-14B9-50CE5DB9CE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🧠 AI development vision</a:t>
            </a:r>
          </a:p>
          <a:p>
            <a:pPr>
              <a:buNone/>
            </a:pPr>
            <a:r>
              <a:rPr lang="en-US" dirty="0"/>
              <a:t>This is NOT just an EMR.</a:t>
            </a:r>
            <a:br>
              <a:rPr lang="en-US" dirty="0"/>
            </a:br>
            <a:r>
              <a:rPr lang="en-US" dirty="0"/>
              <a:t>It should be a </a:t>
            </a:r>
            <a:r>
              <a:rPr lang="en-US" b="1" dirty="0"/>
              <a:t>Preventive Intelligence Engine for children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Outputs:</a:t>
            </a:r>
          </a:p>
          <a:p>
            <a:r>
              <a:rPr lang="en-US" dirty="0"/>
              <a:t>Risk alerts</a:t>
            </a:r>
          </a:p>
          <a:p>
            <a:r>
              <a:rPr lang="en-US" dirty="0"/>
              <a:t>Growth &amp; development tracking</a:t>
            </a:r>
          </a:p>
          <a:p>
            <a:r>
              <a:rPr lang="en-US" dirty="0"/>
              <a:t>Parent guidance</a:t>
            </a:r>
          </a:p>
          <a:p>
            <a:r>
              <a:rPr lang="en-US" dirty="0"/>
              <a:t>Preventive checklists</a:t>
            </a:r>
          </a:p>
          <a:p>
            <a:r>
              <a:rPr lang="en-US" dirty="0"/>
              <a:t>Policy-level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67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752B-5623-7248-14C9-0FF369DA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2: CORE DOMAINS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lang="en-US" altLang="en-US" sz="1600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BC1FFA-937C-2D37-BB75-4DE774797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896779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Growth,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Development,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Nutrition,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Immunization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Safety 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8DC93-6E91-A77C-1D49-3F5803F45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82711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Mental Health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Vision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Hearing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Cardiovascular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 Respiratory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Genetics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44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845D-C91D-734A-651F-9D0768AB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🎯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AI translation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Each domain becomes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module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in the system.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</a:br>
            <a:endParaRPr lang="en-IN" sz="2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08B1-0166-8E50-DB63-D3B465A5BC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Suggested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Universal Child Health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each child: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Unicode MS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0–1 yr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1–5 yr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 5–10 yr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10–18 yr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53159-1E77-77F9-0735-B205F02638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Each visit auto-generates: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Risk scores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Missed screening alerts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Parent guidance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Follow-up schedule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33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0FA9-0CE9-7C28-DDC0-41D1C4DD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SLIDE 3: EXTENDED DOMAINS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28D626-EE01-3FF2-FD96-AF40A36F4A1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9858" y="2558915"/>
            <a:ext cx="459613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Anticipatory guidance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health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Parenting styles 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7AA9A8-0BF6-E5CB-897C-F4F166FE84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🎯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Why this is powerful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moves from disease care → </a:t>
            </a:r>
            <a:r>
              <a:rPr lang="en-US" altLang="en-US" sz="2400" b="1" dirty="0">
                <a:latin typeface="Arial" panose="020B0604020202020204" pitchFamily="34" charset="0"/>
              </a:rPr>
              <a:t>life-course preventive pediatrics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AI possibilities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 addiction risk scoring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Parenting pattern questionnaires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Behaviour</a:t>
            </a:r>
            <a:r>
              <a:rPr lang="en-US" altLang="en-US" sz="2400" dirty="0">
                <a:latin typeface="Arial" panose="020B0604020202020204" pitchFamily="34" charset="0"/>
              </a:rPr>
              <a:t> prediction models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Adolescent mental health flagging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113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EE7F-6BF2-02B4-8102-71ABD295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LIDE 4: GROWTH MODULE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74F58-302B-B3F4-54DE-AC828DC308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AI tasks</a:t>
            </a:r>
          </a:p>
          <a:p>
            <a:pPr>
              <a:buNone/>
            </a:pPr>
            <a:r>
              <a:rPr lang="en-IN" dirty="0"/>
              <a:t>Create automated growth intelligence:</a:t>
            </a:r>
          </a:p>
          <a:p>
            <a:pPr>
              <a:buNone/>
            </a:pPr>
            <a:r>
              <a:rPr lang="en-IN" dirty="0"/>
              <a:t>Input: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Head circumference (0–3 yrs)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Puberty stage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D005A-83A8-D53A-3AB2-7A3FAC7F11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Output:</a:t>
            </a:r>
          </a:p>
          <a:p>
            <a:r>
              <a:rPr lang="en-IN" dirty="0"/>
              <a:t>WHO + Indian charts</a:t>
            </a:r>
          </a:p>
          <a:p>
            <a:r>
              <a:rPr lang="en-IN" dirty="0"/>
              <a:t>Malnutrition risk</a:t>
            </a:r>
          </a:p>
          <a:p>
            <a:r>
              <a:rPr lang="en-IN" dirty="0"/>
              <a:t>Obesity prediction</a:t>
            </a:r>
          </a:p>
          <a:p>
            <a:r>
              <a:rPr lang="en-IN" dirty="0"/>
              <a:t>Stunting alerts</a:t>
            </a:r>
          </a:p>
          <a:p>
            <a:r>
              <a:rPr lang="en-IN" dirty="0"/>
              <a:t>Puberty delay/early puberty alerts</a:t>
            </a:r>
          </a:p>
          <a:p>
            <a:pPr>
              <a:buNone/>
            </a:pPr>
            <a:r>
              <a:rPr lang="en-IN" b="1" dirty="0"/>
              <a:t>Advanced AI</a:t>
            </a:r>
          </a:p>
          <a:p>
            <a:pPr>
              <a:buNone/>
            </a:pPr>
            <a:r>
              <a:rPr lang="en-IN" dirty="0"/>
              <a:t>Predict:</a:t>
            </a:r>
          </a:p>
          <a:p>
            <a:r>
              <a:rPr lang="en-IN" dirty="0"/>
              <a:t>Future obesity</a:t>
            </a:r>
          </a:p>
          <a:p>
            <a:r>
              <a:rPr lang="en-IN" dirty="0"/>
              <a:t>Metabolic syndrome risk</a:t>
            </a:r>
          </a:p>
          <a:p>
            <a:r>
              <a:rPr lang="en-IN" dirty="0"/>
              <a:t>Adult NCD 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65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ED97A-AD2F-3D35-31C9-9AA28BF0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LIDE 5: DEVELOPMENT MODULE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4FA7-7A16-EA3C-464F-E35EE88642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Screening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Cognitive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Autism red flags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9C4CB-11F3-4132-899C-562BFF394D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AI design</a:t>
            </a:r>
          </a:p>
          <a:p>
            <a:pPr>
              <a:buNone/>
            </a:pPr>
            <a:r>
              <a:rPr lang="en-IN" dirty="0"/>
              <a:t>Age-based developmental checklist: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2m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6m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9m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1yr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18m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2yr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3yr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5yr</a:t>
            </a:r>
          </a:p>
          <a:p>
            <a:pPr>
              <a:buNone/>
            </a:pPr>
            <a:r>
              <a:rPr lang="en-IN" dirty="0"/>
              <a:t>If delay → auto:</a:t>
            </a:r>
          </a:p>
          <a:p>
            <a:r>
              <a:rPr lang="en-IN" dirty="0"/>
              <a:t>Referral suggestion</a:t>
            </a:r>
          </a:p>
          <a:p>
            <a:r>
              <a:rPr lang="en-IN" dirty="0"/>
              <a:t>Therapy advice</a:t>
            </a:r>
          </a:p>
          <a:p>
            <a:r>
              <a:rPr lang="en-IN" dirty="0"/>
              <a:t>Parent home program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54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D026-0D13-170E-F3B5-624CA09A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LIDE 5: DEVELOPMENT MODULE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BEAC-F446-CEEB-989F-D9ADA737B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Screening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Cognitive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Autism red flags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DB281-B9D0-4982-B818-7285A79992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AI design</a:t>
            </a:r>
          </a:p>
          <a:p>
            <a:pPr>
              <a:buNone/>
            </a:pPr>
            <a:r>
              <a:rPr lang="en-IN" dirty="0"/>
              <a:t>Age-based developmental checklist: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2m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6m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9m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1yr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18m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2yr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3yr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5yr</a:t>
            </a:r>
          </a:p>
          <a:p>
            <a:pPr>
              <a:buNone/>
            </a:pPr>
            <a:r>
              <a:rPr lang="en-IN" dirty="0"/>
              <a:t>If delay → auto:</a:t>
            </a:r>
          </a:p>
          <a:p>
            <a:r>
              <a:rPr lang="en-IN" dirty="0"/>
              <a:t>Referral suggestion</a:t>
            </a:r>
          </a:p>
          <a:p>
            <a:r>
              <a:rPr lang="en-IN" dirty="0"/>
              <a:t>Therapy advice</a:t>
            </a:r>
          </a:p>
          <a:p>
            <a:r>
              <a:rPr lang="en-IN" dirty="0"/>
              <a:t>Parent home program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14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DB3A-6AFB-F048-A5F6-F0D3A29F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SLIDE 7: SUPPLEMENTS + DEWORMING + GUT HEALTH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B7BEB-E02E-6937-DE8F-B609734356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/>
              <a:t>AI integration</a:t>
            </a:r>
          </a:p>
          <a:p>
            <a:pPr>
              <a:buNone/>
            </a:pPr>
            <a:r>
              <a:rPr lang="en-IN" dirty="0"/>
              <a:t>Auto reminders: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Vitamin 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Iron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Deworming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B12 (veg children)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Probiotics where needed</a:t>
            </a:r>
          </a:p>
          <a:p>
            <a:pPr>
              <a:buNone/>
            </a:pPr>
            <a:r>
              <a:rPr lang="en-IN" dirty="0"/>
              <a:t>Create:</a:t>
            </a:r>
            <a:br>
              <a:rPr lang="en-IN" dirty="0"/>
            </a:br>
            <a:r>
              <a:rPr lang="en-IN" b="1" dirty="0"/>
              <a:t>“Gut health score”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2EC2D-9FE0-43D7-7B6C-37675BE18C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1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B106-9E1D-4D86-C152-66BDCAE8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SLIDE 8: IMMUNISATION MODULE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8C618-AB8F-D51F-930E-6F3E5CF32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Must include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IAP schedule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Govt schedule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Catch-up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Vaccine hesitancy flag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24D83-95EF-569D-2D08-8B8093220C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AI feature</a:t>
            </a:r>
          </a:p>
          <a:p>
            <a:pPr>
              <a:buNone/>
            </a:pPr>
            <a:r>
              <a:rPr lang="en-IN" dirty="0"/>
              <a:t>Upload photo of vaccine card → auto entry.</a:t>
            </a:r>
          </a:p>
          <a:p>
            <a:pPr>
              <a:buNone/>
            </a:pPr>
            <a:r>
              <a:rPr lang="en-IN" dirty="0"/>
              <a:t>Predict:</a:t>
            </a:r>
          </a:p>
          <a:p>
            <a:r>
              <a:rPr lang="en-IN" dirty="0"/>
              <a:t>Missed vaccines</a:t>
            </a:r>
          </a:p>
          <a:p>
            <a:r>
              <a:rPr lang="en-IN" dirty="0"/>
              <a:t>Outbreak risk</a:t>
            </a:r>
          </a:p>
          <a:p>
            <a:r>
              <a:rPr lang="en-IN" dirty="0"/>
              <a:t>High-risk child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93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5E1A-F83E-57FC-E5AF-4B67A273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9: SAFETY MODULE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6D1C-AEB7-130B-B6C3-9D7619ACBA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India-specific risks: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Road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Drowning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risks (teens)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921D4-0F78-2093-8195-4F8D43EED8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AI output:</a:t>
            </a:r>
          </a:p>
          <a:p>
            <a:r>
              <a:rPr lang="en-US" dirty="0"/>
              <a:t>Home safety score</a:t>
            </a:r>
          </a:p>
          <a:p>
            <a:r>
              <a:rPr lang="en-US" dirty="0"/>
              <a:t>Injury risk score</a:t>
            </a:r>
          </a:p>
          <a:p>
            <a:r>
              <a:rPr lang="en-US" dirty="0"/>
              <a:t>Abuse red flags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57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E07A-7023-6A86-08B3-7114B29A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SLIDE 10: MENTAL HEALTH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ED3E9-D19E-E795-F001-CC381D0386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Screen for:</a:t>
            </a:r>
          </a:p>
          <a:p>
            <a:r>
              <a:rPr lang="en-IN" dirty="0"/>
              <a:t>Autism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ADHD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Anxiety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Gaming addiction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Bullying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Suicide risk (teens)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13948-A330-4453-0579-486C8E107C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AI can:</a:t>
            </a:r>
          </a:p>
          <a:p>
            <a:r>
              <a:rPr lang="en-IN" dirty="0"/>
              <a:t>Use questionnaires</a:t>
            </a:r>
          </a:p>
          <a:p>
            <a:r>
              <a:rPr lang="en-IN" dirty="0"/>
              <a:t>Analyse behaviour patterns</a:t>
            </a:r>
          </a:p>
          <a:p>
            <a:r>
              <a:rPr lang="en-IN" dirty="0"/>
              <a:t>Flag silent distress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49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50E0-6F55-F1E5-36B9-6DDB04CA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SLIDE 11: VISION &amp; HEARING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84C7-905E-BD51-9DEC-C609D90444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AI integration: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Vision chart via tablet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School screening sync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Hearing risk scoring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25907-C4EE-2B2E-0922-DC2BAC3CC2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Flag:</a:t>
            </a:r>
          </a:p>
          <a:p>
            <a:r>
              <a:rPr lang="en-IN" dirty="0"/>
              <a:t>Myopia epidemic</a:t>
            </a:r>
          </a:p>
          <a:p>
            <a:r>
              <a:rPr lang="en-IN" dirty="0"/>
              <a:t>Screen overuse 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929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41AE-74DD-19FE-24BC-81B419D3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12: CARDIOVASCULAR HEALTH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53DF-C3AD-060C-7589-2B8761FED1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BP from 3 yrs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Obesity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Lipids (risk based)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Family history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3CD7F-164E-5961-97DD-A3818630A6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AI predicts:</a:t>
            </a:r>
          </a:p>
          <a:p>
            <a:r>
              <a:rPr lang="en-US" dirty="0"/>
              <a:t>Adult heart risk from childhood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07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ED70-37ED-BC3C-8130-016BDD9F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SLIDE 13: RESPIRATORY HEALTH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2C63-D82E-0CE2-7FCE-EEC187E618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Very important for India.</a:t>
            </a:r>
          </a:p>
          <a:p>
            <a:pPr>
              <a:buNone/>
            </a:pPr>
            <a:r>
              <a:rPr lang="en-IN" dirty="0"/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Asthma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Pollution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Allergy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TB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Sleep </a:t>
            </a:r>
            <a:r>
              <a:rPr lang="en-IN" dirty="0" err="1"/>
              <a:t>apnea</a:t>
            </a:r>
            <a:r>
              <a:rPr lang="en-IN" dirty="0"/>
              <a:t> (obesity)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CD173-C2C7-8DD3-3C68-7A020828A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AI outputs:</a:t>
            </a:r>
          </a:p>
          <a:p>
            <a:r>
              <a:rPr lang="en-IN" dirty="0"/>
              <a:t>Lung function testing </a:t>
            </a:r>
            <a:br>
              <a:rPr lang="en-IN" dirty="0"/>
            </a:br>
            <a:r>
              <a:rPr lang="en-IN" dirty="0"/>
              <a:t>Respiratory vulnerability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17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8496-1288-DE10-8D61-2C506F20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14: ANTICIPATORY GUIDANCE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CCA1-B706-A425-211D-1E64642DB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This is Bright Futures' strength.</a:t>
            </a:r>
          </a:p>
          <a:p>
            <a:pPr>
              <a:buNone/>
            </a:pPr>
            <a:r>
              <a:rPr lang="en-US" dirty="0"/>
              <a:t>At each visit AI generates: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What parents must know NOW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What to expect next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What to prevent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84E81-BD44-3AB9-C7D5-7943F9FEF6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2 yr:</a:t>
            </a:r>
          </a:p>
          <a:p>
            <a:r>
              <a:rPr lang="en-US" dirty="0"/>
              <a:t>Speech</a:t>
            </a:r>
          </a:p>
          <a:p>
            <a:r>
              <a:rPr lang="en-US" dirty="0"/>
              <a:t>Tantrums</a:t>
            </a:r>
          </a:p>
          <a:p>
            <a:r>
              <a:rPr lang="en-US" dirty="0"/>
              <a:t>Toilet training</a:t>
            </a:r>
          </a:p>
          <a:p>
            <a:pPr>
              <a:buNone/>
            </a:pPr>
            <a:r>
              <a:rPr lang="en-US" dirty="0"/>
              <a:t>Teen:</a:t>
            </a:r>
          </a:p>
          <a:p>
            <a:r>
              <a:rPr lang="en-US" dirty="0"/>
              <a:t>Porn exposure</a:t>
            </a:r>
          </a:p>
          <a:p>
            <a:r>
              <a:rPr lang="en-US" dirty="0"/>
              <a:t>Substance use</a:t>
            </a:r>
          </a:p>
          <a:p>
            <a:r>
              <a:rPr lang="en-US" dirty="0"/>
              <a:t>Depression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40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2C11-DE03-B8E4-09AB-007EFAB4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15: DIGITAL HEALTH &amp; SCREEN TIME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1D00-EDD1-D10C-27B1-74A95FFAF4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AI collects: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Gaming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Sleep pattern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D400E-CB40-4FD6-4B61-E5A4A44CB3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Outputs:</a:t>
            </a:r>
          </a:p>
          <a:p>
            <a:r>
              <a:rPr lang="en-US" dirty="0"/>
              <a:t>Addiction risk</a:t>
            </a:r>
          </a:p>
          <a:p>
            <a:r>
              <a:rPr lang="en-US" dirty="0"/>
              <a:t>Attention risk</a:t>
            </a:r>
          </a:p>
          <a:p>
            <a:r>
              <a:rPr lang="en-US" dirty="0"/>
              <a:t>Sleep deficit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867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F43D-7EAE-85E3-C8F0-6EBEF09F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16: PARENTING STYLE MODULE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CD98-5981-28E1-2CE6-9393FF957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611" y="1982379"/>
            <a:ext cx="5181600" cy="43513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Unique India innovation.</a:t>
            </a:r>
          </a:p>
          <a:p>
            <a:pPr>
              <a:buNone/>
            </a:pPr>
            <a:r>
              <a:rPr lang="en-US" dirty="0"/>
              <a:t>Assess: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Authoritarian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Permissive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Neglectful</a:t>
            </a:r>
          </a:p>
          <a:p>
            <a:pPr>
              <a:buNone/>
            </a:pPr>
            <a:r>
              <a:rPr lang="en-US" dirty="0"/>
              <a:t>Predict: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Behaviour</a:t>
            </a:r>
            <a:r>
              <a:rPr lang="en-US" dirty="0"/>
              <a:t>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Academic stress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Anxiety risk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D551D-4C0A-8E6F-9416-2AE0B96719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834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0B27-791E-DAA9-4428-1AABCEBA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/>
              <a:t>WHY GENETICS IN PREVENTIVE PEDIATRICS?</a:t>
            </a:r>
            <a:br>
              <a:rPr lang="en-US" sz="2700" b="1" dirty="0"/>
            </a:br>
            <a:r>
              <a:rPr lang="en-US" sz="2700" b="1" dirty="0"/>
              <a:t>Key message for AI team</a:t>
            </a:r>
            <a:br>
              <a:rPr lang="en-US" sz="2700" b="1" dirty="0"/>
            </a:br>
            <a:r>
              <a:rPr lang="en-US" sz="2700" dirty="0"/>
              <a:t>We are moving from:</a:t>
            </a:r>
            <a:br>
              <a:rPr lang="en-US" sz="2700" dirty="0"/>
            </a:br>
            <a:r>
              <a:rPr lang="en-US" sz="2700" b="1" dirty="0"/>
              <a:t>Reactive pediatrics → Predictive pediatrics → Precision pediatrics</a:t>
            </a:r>
            <a:br>
              <a:rPr lang="en-US" sz="27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5353-B44C-8E9A-A879-077B8422D8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Genetics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disease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Targeted prevention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Personalized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Family counselling</a:t>
            </a:r>
          </a:p>
          <a:p>
            <a:pPr>
              <a:buNone/>
            </a:pPr>
            <a:r>
              <a:rPr lang="en-US" dirty="0"/>
              <a:t>This becomes a </a:t>
            </a:r>
            <a:r>
              <a:rPr lang="en-US" b="1" dirty="0"/>
              <a:t>lifelong health blueprint</a:t>
            </a:r>
            <a:r>
              <a:rPr lang="en-US" dirty="0"/>
              <a:t> for each child.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63797-5CB7-F3FF-8375-870FFCDFA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97880" cy="4351338"/>
          </a:xfrm>
        </p:spPr>
        <p:txBody>
          <a:bodyPr>
            <a:normAutofit/>
          </a:bodyPr>
          <a:lstStyle/>
          <a:p>
            <a:r>
              <a:rPr lang="en-US" b="1" dirty="0"/>
              <a:t>SLIDE: GENETIC RISK SCREENING (BIRTH–18 YEARS)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20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07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D305-83C2-6168-882D-4C2378EA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17: HOW AI SYSTEM SHOULD WORK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15FD-571E-E8BB-2147-AAB0CF2B35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For developers explain clearly:</a:t>
            </a:r>
          </a:p>
          <a:p>
            <a:pPr>
              <a:buNone/>
            </a:pPr>
            <a:r>
              <a:rPr lang="en-IN" b="1" dirty="0"/>
              <a:t>INPUTS</a:t>
            </a:r>
          </a:p>
          <a:p>
            <a:pPr>
              <a:buNone/>
            </a:pPr>
            <a:r>
              <a:rPr lang="en-IN" dirty="0"/>
              <a:t>Doctor entry</a:t>
            </a:r>
            <a:br>
              <a:rPr lang="en-IN" dirty="0"/>
            </a:br>
            <a:r>
              <a:rPr lang="en-IN" dirty="0"/>
              <a:t>Parent app</a:t>
            </a:r>
            <a:br>
              <a:rPr lang="en-IN" dirty="0"/>
            </a:br>
            <a:r>
              <a:rPr lang="en-IN" dirty="0"/>
              <a:t>School data</a:t>
            </a:r>
            <a:br>
              <a:rPr lang="en-IN" dirty="0"/>
            </a:br>
            <a:r>
              <a:rPr lang="en-IN" dirty="0"/>
              <a:t>Wearables</a:t>
            </a:r>
            <a:br>
              <a:rPr lang="en-IN" dirty="0"/>
            </a:br>
            <a:r>
              <a:rPr lang="en-IN" dirty="0"/>
              <a:t>Lab reports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DB84D-2546-BECF-0FC1-5AE76A7705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AI ENGINE</a:t>
            </a:r>
          </a:p>
          <a:p>
            <a:pPr>
              <a:buNone/>
            </a:pPr>
            <a:r>
              <a:rPr lang="en-IN" dirty="0"/>
              <a:t>Risk scoring</a:t>
            </a:r>
            <a:br>
              <a:rPr lang="en-IN" dirty="0"/>
            </a:br>
            <a:r>
              <a:rPr lang="en-IN" dirty="0"/>
              <a:t>Predictive alerts</a:t>
            </a:r>
            <a:br>
              <a:rPr lang="en-IN" dirty="0"/>
            </a:br>
            <a:r>
              <a:rPr lang="en-IN" dirty="0"/>
              <a:t>Missed screening alerts</a:t>
            </a:r>
            <a:br>
              <a:rPr lang="en-IN" dirty="0"/>
            </a:br>
            <a:r>
              <a:rPr lang="en-IN" dirty="0"/>
              <a:t>Personalised guidance</a:t>
            </a:r>
          </a:p>
          <a:p>
            <a:pPr>
              <a:buNone/>
            </a:pPr>
            <a:r>
              <a:rPr lang="en-IN" b="1" dirty="0"/>
              <a:t>OUTPUTS</a:t>
            </a:r>
          </a:p>
          <a:p>
            <a:pPr>
              <a:buNone/>
            </a:pPr>
            <a:r>
              <a:rPr lang="en-IN" dirty="0"/>
              <a:t>Doctor dashboard</a:t>
            </a:r>
            <a:br>
              <a:rPr lang="en-IN" dirty="0"/>
            </a:br>
            <a:r>
              <a:rPr lang="en-IN" dirty="0"/>
              <a:t>Parent app</a:t>
            </a:r>
            <a:br>
              <a:rPr lang="en-IN" dirty="0"/>
            </a:br>
            <a:r>
              <a:rPr lang="en-IN" dirty="0"/>
              <a:t>School health report</a:t>
            </a:r>
            <a:br>
              <a:rPr lang="en-IN" dirty="0"/>
            </a:br>
            <a:r>
              <a:rPr lang="en-IN" dirty="0"/>
              <a:t>Public health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445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5C88-9CFC-E7BC-1720-05D00CB2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SLIDE: GENETIC RISK SCREENING (BIRTH–18 YEARS)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5037-9C4F-D0BD-1959-4479298021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b="1" dirty="0"/>
              <a:t>Level 1: Clinical Genetic Risk (for all children)</a:t>
            </a:r>
          </a:p>
          <a:p>
            <a:pPr>
              <a:buNone/>
            </a:pPr>
            <a:r>
              <a:rPr lang="en-IN" dirty="0"/>
              <a:t>AI tool should capture:</a:t>
            </a:r>
          </a:p>
          <a:p>
            <a:pPr>
              <a:buNone/>
            </a:pPr>
            <a:r>
              <a:rPr lang="en-IN" b="1" dirty="0"/>
              <a:t>Family history (3-generation)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Diabetes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Asthma/allergy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Heart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Sudden death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Thalassemia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Mental illness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Genetic syndromes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Consanguinity</a:t>
            </a:r>
          </a:p>
          <a:p>
            <a:pPr>
              <a:buNone/>
            </a:pPr>
            <a:r>
              <a:rPr lang="en-IN" dirty="0"/>
              <a:t>AI output:</a:t>
            </a:r>
            <a:br>
              <a:rPr lang="en-IN" dirty="0"/>
            </a:br>
            <a:r>
              <a:rPr lang="en-IN" b="1" dirty="0"/>
              <a:t>Genetic risk score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DE8A0-6640-1BF9-BE68-317B47839C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b="1" dirty="0"/>
              <a:t>Level 2: Physical Red Flags (Doctor entry)</a:t>
            </a:r>
          </a:p>
          <a:p>
            <a:pPr>
              <a:buNone/>
            </a:pPr>
            <a:r>
              <a:rPr lang="en-IN" dirty="0"/>
              <a:t>AI prompts </a:t>
            </a:r>
            <a:r>
              <a:rPr lang="en-IN" dirty="0" err="1"/>
              <a:t>pediatrician</a:t>
            </a:r>
            <a:r>
              <a:rPr lang="en-IN" dirty="0"/>
              <a:t>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Dysmorphic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Developmental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Recurrent infections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Short stature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Ambiguous genitalia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Neuroregression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Congenital anomalies</a:t>
            </a:r>
          </a:p>
          <a:p>
            <a:pPr>
              <a:buNone/>
            </a:pPr>
            <a:r>
              <a:rPr lang="en-IN" dirty="0"/>
              <a:t>Output:</a:t>
            </a:r>
          </a:p>
          <a:p>
            <a:pPr>
              <a:buNone/>
            </a:pPr>
            <a:r>
              <a:rPr lang="en-IN" dirty="0"/>
              <a:t>“Consider genetic evaluation”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802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A931-DD47-2C63-6C11-F3E2BBFC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SLIDE: NEWBORN GENETIC SCREENING (INDIA ADAPTATION)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2A947-0EDF-74F1-C03B-0E94BC4FAF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Explain to AI team:</a:t>
            </a:r>
          </a:p>
          <a:p>
            <a:pPr>
              <a:buNone/>
            </a:pPr>
            <a:r>
              <a:rPr lang="en-IN" b="1" dirty="0"/>
              <a:t>Current India gap</a:t>
            </a:r>
          </a:p>
          <a:p>
            <a:pPr>
              <a:buNone/>
            </a:pPr>
            <a:r>
              <a:rPr lang="en-IN" dirty="0"/>
              <a:t>No universal newborn screening.</a:t>
            </a:r>
          </a:p>
          <a:p>
            <a:pPr>
              <a:buNone/>
            </a:pPr>
            <a:r>
              <a:rPr lang="en-IN" b="1" dirty="0"/>
              <a:t>Proposed module</a:t>
            </a:r>
          </a:p>
          <a:p>
            <a:pPr>
              <a:buNone/>
            </a:pPr>
            <a:r>
              <a:rPr lang="en-IN" dirty="0"/>
              <a:t>AI-supported newborn screening tracker:</a:t>
            </a:r>
          </a:p>
          <a:p>
            <a:pPr>
              <a:buNone/>
            </a:pPr>
            <a:r>
              <a:rPr lang="en-IN" dirty="0"/>
              <a:t>If available: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G6PD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Metabolic screening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 (future)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Thalassemia</a:t>
            </a:r>
          </a:p>
          <a:p>
            <a:pPr>
              <a:buNone/>
            </a:pPr>
            <a:r>
              <a:rPr lang="en-IN" dirty="0"/>
              <a:t>AI generates:</a:t>
            </a:r>
            <a:br>
              <a:rPr lang="en-IN" dirty="0"/>
            </a:br>
            <a:r>
              <a:rPr lang="en-IN" dirty="0"/>
              <a:t>Missed screening alert.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E5FC5-1856-8492-5544-60AC7FA264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71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938</Words>
  <Application>Microsoft Office PowerPoint</Application>
  <PresentationFormat>Widescreen</PresentationFormat>
  <Paragraphs>271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Arial Unicode MS</vt:lpstr>
      <vt:lpstr>Courier New</vt:lpstr>
      <vt:lpstr>Office Theme</vt:lpstr>
      <vt:lpstr>PowerPoint Presentation</vt:lpstr>
      <vt:lpstr>SLIDE 1: TITLE “Preventive Health Care for Children: Birth to 18 Years” </vt:lpstr>
      <vt:lpstr>SLIDE 2: CORE DOMAINS  </vt:lpstr>
      <vt:lpstr>🎯 AI translation Each domain becomes a module in the system. </vt:lpstr>
      <vt:lpstr>SLIDE 3: EXTENDED DOMAINS </vt:lpstr>
      <vt:lpstr>LIDE 4: GROWTH MODULE </vt:lpstr>
      <vt:lpstr>LIDE 5: DEVELOPMENT MODULE </vt:lpstr>
      <vt:lpstr>LIDE 5: DEVELOPMENT MODULE </vt:lpstr>
      <vt:lpstr>SLIDE 7: SUPPLEMENTS + DEWORMING + GUT HEALTH </vt:lpstr>
      <vt:lpstr>SLIDE 8: IMMUNISATION MODULE </vt:lpstr>
      <vt:lpstr>SLIDE 9: SAFETY MODULE </vt:lpstr>
      <vt:lpstr>SLIDE 10: MENTAL HEALTH </vt:lpstr>
      <vt:lpstr>SLIDE 11: VISION &amp; HEARING </vt:lpstr>
      <vt:lpstr>SLIDE 12: CARDIOVASCULAR HEALTH </vt:lpstr>
      <vt:lpstr>SLIDE 13: RESPIRATORY HEALTH </vt:lpstr>
      <vt:lpstr>SLIDE 14: ANTICIPATORY GUIDANCE </vt:lpstr>
      <vt:lpstr>SLIDE 15: DIGITAL HEALTH &amp; SCREEN TIME </vt:lpstr>
      <vt:lpstr>SLIDE 16: PARENTING STYLE MODULE </vt:lpstr>
      <vt:lpstr>WHY GENETICS IN PREVENTIVE PEDIATRICS? Key message for AI team We are moving from: Reactive pediatrics → Predictive pediatrics → Precision pediatrics </vt:lpstr>
      <vt:lpstr>PowerPoint Presentation</vt:lpstr>
      <vt:lpstr>SLIDE 17: HOW AI SYSTEM SHOULD WORK </vt:lpstr>
      <vt:lpstr>SLIDE: GENETIC RISK SCREENING (BIRTH–18 YEARS) </vt:lpstr>
      <vt:lpstr>SLIDE: NEWBORN GENETIC SCREENING (INDIA ADAPTATION)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Chinnappa</dc:creator>
  <cp:lastModifiedBy>Jagdish Chinnappa</cp:lastModifiedBy>
  <cp:revision>1</cp:revision>
  <dcterms:created xsi:type="dcterms:W3CDTF">2026-02-06T09:35:05Z</dcterms:created>
  <dcterms:modified xsi:type="dcterms:W3CDTF">2026-02-06T09:59:07Z</dcterms:modified>
</cp:coreProperties>
</file>